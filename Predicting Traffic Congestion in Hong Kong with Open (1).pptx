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C0BA-96DE-4F2A-AE5E-C6B5209AA53B}" type="datetimeFigureOut">
              <a:rPr lang="zh-HK" altLang="en-US" smtClean="0"/>
              <a:t>23/4/2026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6348423-220F-4F1A-B848-BF07EC69EE1D}" type="slidenum">
              <a:rPr lang="zh-HK" altLang="en-US" smtClean="0"/>
              <a:t>‹#›</a:t>
            </a:fld>
            <a:endParaRPr lang="zh-HK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637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C0BA-96DE-4F2A-AE5E-C6B5209AA53B}" type="datetimeFigureOut">
              <a:rPr lang="zh-HK" altLang="en-US" smtClean="0"/>
              <a:t>23/4/2026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8423-220F-4F1A-B848-BF07EC69EE1D}" type="slidenum">
              <a:rPr lang="zh-HK" altLang="en-US" smtClean="0"/>
              <a:t>‹#›</a:t>
            </a:fld>
            <a:endParaRPr lang="zh-HK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95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C0BA-96DE-4F2A-AE5E-C6B5209AA53B}" type="datetimeFigureOut">
              <a:rPr lang="zh-HK" altLang="en-US" smtClean="0"/>
              <a:t>23/4/2026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8423-220F-4F1A-B848-BF07EC69EE1D}" type="slidenum">
              <a:rPr lang="zh-HK" altLang="en-US" smtClean="0"/>
              <a:t>‹#›</a:t>
            </a:fld>
            <a:endParaRPr lang="zh-HK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3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C0BA-96DE-4F2A-AE5E-C6B5209AA53B}" type="datetimeFigureOut">
              <a:rPr lang="zh-HK" altLang="en-US" smtClean="0"/>
              <a:t>23/4/2026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8423-220F-4F1A-B848-BF07EC69EE1D}" type="slidenum">
              <a:rPr lang="zh-HK" altLang="en-US" smtClean="0"/>
              <a:t>‹#›</a:t>
            </a:fld>
            <a:endParaRPr lang="zh-HK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563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C0BA-96DE-4F2A-AE5E-C6B5209AA53B}" type="datetimeFigureOut">
              <a:rPr lang="zh-HK" altLang="en-US" smtClean="0"/>
              <a:t>23/4/2026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8423-220F-4F1A-B848-BF07EC69EE1D}" type="slidenum">
              <a:rPr lang="zh-HK" altLang="en-US" smtClean="0"/>
              <a:t>‹#›</a:t>
            </a:fld>
            <a:endParaRPr lang="zh-HK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434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C0BA-96DE-4F2A-AE5E-C6B5209AA53B}" type="datetimeFigureOut">
              <a:rPr lang="zh-HK" altLang="en-US" smtClean="0"/>
              <a:t>23/4/2026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8423-220F-4F1A-B848-BF07EC69EE1D}" type="slidenum">
              <a:rPr lang="zh-HK" altLang="en-US" smtClean="0"/>
              <a:t>‹#›</a:t>
            </a:fld>
            <a:endParaRPr lang="zh-HK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4673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C0BA-96DE-4F2A-AE5E-C6B5209AA53B}" type="datetimeFigureOut">
              <a:rPr lang="zh-HK" altLang="en-US" smtClean="0"/>
              <a:t>23/4/2026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8423-220F-4F1A-B848-BF07EC69EE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00326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C0BA-96DE-4F2A-AE5E-C6B5209AA53B}" type="datetimeFigureOut">
              <a:rPr lang="zh-HK" altLang="en-US" smtClean="0"/>
              <a:t>23/4/2026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8423-220F-4F1A-B848-BF07EC69EE1D}" type="slidenum">
              <a:rPr lang="zh-HK" altLang="en-US" smtClean="0"/>
              <a:t>‹#›</a:t>
            </a:fld>
            <a:endParaRPr lang="zh-HK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07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E7EC0BA-96DE-4F2A-AE5E-C6B5209AA53B}" type="datetimeFigureOut">
              <a:rPr lang="zh-HK" altLang="en-US" smtClean="0"/>
              <a:t>23/4/2026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8423-220F-4F1A-B848-BF07EC69EE1D}" type="slidenum">
              <a:rPr lang="zh-HK" altLang="en-US" smtClean="0"/>
              <a:t>‹#›</a:t>
            </a:fld>
            <a:endParaRPr lang="zh-HK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772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C0BA-96DE-4F2A-AE5E-C6B5209AA53B}" type="datetimeFigureOut">
              <a:rPr lang="zh-HK" altLang="en-US" smtClean="0"/>
              <a:t>23/4/2026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8423-220F-4F1A-B848-BF07EC69EE1D}" type="slidenum">
              <a:rPr lang="zh-HK" altLang="en-US" smtClean="0"/>
              <a:t>‹#›</a:t>
            </a:fld>
            <a:endParaRPr lang="zh-HK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106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C0BA-96DE-4F2A-AE5E-C6B5209AA53B}" type="datetimeFigureOut">
              <a:rPr lang="zh-HK" altLang="en-US" smtClean="0"/>
              <a:t>23/4/2026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8423-220F-4F1A-B848-BF07EC69EE1D}" type="slidenum">
              <a:rPr lang="zh-HK" altLang="en-US" smtClean="0"/>
              <a:t>‹#›</a:t>
            </a:fld>
            <a:endParaRPr lang="zh-HK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264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EC0BA-96DE-4F2A-AE5E-C6B5209AA53B}" type="datetimeFigureOut">
              <a:rPr lang="zh-HK" altLang="en-US" smtClean="0"/>
              <a:t>23/4/2026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6348423-220F-4F1A-B848-BF07EC69EE1D}" type="slidenum">
              <a:rPr lang="zh-HK" altLang="en-US" smtClean="0"/>
              <a:t>‹#›</a:t>
            </a:fld>
            <a:endParaRPr lang="zh-HK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41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A037EF-A7C2-486D-80D2-DC72C297CA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sz="4000" b="1" dirty="0">
                <a:latin typeface="+mn-ea"/>
                <a:ea typeface="+mn-ea"/>
              </a:rPr>
              <a:t>Predicting Traffic Congestion in Hong Kong with Open Data:</a:t>
            </a:r>
            <a:br>
              <a:rPr lang="en-US" altLang="zh-HK" sz="4000" b="1" dirty="0">
                <a:latin typeface="+mn-ea"/>
                <a:ea typeface="+mn-ea"/>
              </a:rPr>
            </a:br>
            <a:r>
              <a:rPr lang="en-US" altLang="zh-HK" sz="4000" b="1" dirty="0">
                <a:latin typeface="+mn-ea"/>
                <a:ea typeface="+mn-ea"/>
              </a:rPr>
              <a:t>A Practical Undergraduate Capstone </a:t>
            </a:r>
            <a:br>
              <a:rPr lang="zh-TW" altLang="zh-HK" sz="4000" b="1" dirty="0">
                <a:latin typeface="+mn-ea"/>
                <a:ea typeface="+mn-ea"/>
              </a:rPr>
            </a:br>
            <a:r>
              <a:rPr lang="en-US" altLang="zh-HK" sz="4000" dirty="0">
                <a:latin typeface="+mn-ea"/>
                <a:ea typeface="+mn-ea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br>
              <a:rPr lang="zh-TW" altLang="zh-HK" dirty="0"/>
            </a:br>
            <a:endParaRPr lang="zh-HK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4D3E0A9-EA9D-EEC4-EB85-8ED5A5DFFF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altLang="zh-HK" sz="1800" b="1" dirty="0">
                <a:latin typeface="+mn-ea"/>
              </a:rPr>
              <a:t>Chan Man Tik (22D021)</a:t>
            </a:r>
            <a:br>
              <a:rPr lang="zh-TW" altLang="zh-HK" sz="1800" dirty="0">
                <a:latin typeface="+mn-ea"/>
              </a:rPr>
            </a:br>
            <a:r>
              <a:rPr lang="en-US" altLang="zh-HK" sz="1800" dirty="0">
                <a:latin typeface="+mn-ea"/>
              </a:rPr>
              <a:t>submitted for the degree of</a:t>
            </a:r>
            <a:br>
              <a:rPr lang="zh-TW" altLang="zh-HK" sz="1800" dirty="0">
                <a:latin typeface="+mn-ea"/>
              </a:rPr>
            </a:br>
            <a:r>
              <a:rPr lang="en-US" altLang="zh-HK" sz="1800" b="1" dirty="0">
                <a:latin typeface="+mn-ea"/>
              </a:rPr>
              <a:t>Bachelor of Science in Applied Data Science</a:t>
            </a:r>
            <a:br>
              <a:rPr lang="zh-TW" altLang="zh-HK" sz="1800" dirty="0">
                <a:latin typeface="+mn-ea"/>
              </a:rPr>
            </a:br>
            <a:r>
              <a:rPr lang="en-US" altLang="zh-HK" sz="1800" dirty="0">
                <a:latin typeface="+mn-ea"/>
              </a:rPr>
              <a:t>of</a:t>
            </a:r>
            <a:br>
              <a:rPr lang="zh-TW" altLang="zh-HK" sz="1800" dirty="0">
                <a:latin typeface="+mn-ea"/>
              </a:rPr>
            </a:br>
            <a:r>
              <a:rPr lang="en-US" altLang="zh-HK" sz="1800" b="1" dirty="0">
                <a:latin typeface="+mn-ea"/>
              </a:rPr>
              <a:t>Hong Kong Shue Yan University</a:t>
            </a:r>
            <a:br>
              <a:rPr lang="zh-TW" altLang="zh-HK" sz="1800" dirty="0">
                <a:latin typeface="+mn-ea"/>
              </a:rPr>
            </a:br>
            <a:r>
              <a:rPr lang="en-US" altLang="zh-HK" sz="1800" b="1" dirty="0">
                <a:latin typeface="+mn-ea"/>
              </a:rPr>
              <a:t>Supervisor:</a:t>
            </a:r>
            <a:r>
              <a:rPr lang="en-US" altLang="zh-HK" sz="1800" dirty="0">
                <a:latin typeface="+mn-ea"/>
              </a:rPr>
              <a:t> </a:t>
            </a:r>
            <a:r>
              <a:rPr lang="en-US" altLang="zh-HK" sz="1800" b="1" dirty="0">
                <a:latin typeface="+mn-ea"/>
              </a:rPr>
              <a:t>Prof. Ka Lun, FAN</a:t>
            </a:r>
            <a:br>
              <a:rPr lang="zh-TW" altLang="zh-HK" sz="1800" dirty="0">
                <a:latin typeface="+mn-ea"/>
              </a:rPr>
            </a:br>
            <a:r>
              <a:rPr lang="en-US" altLang="zh-HK" sz="1800" b="1" dirty="0">
                <a:latin typeface="+mn-ea"/>
              </a:rPr>
              <a:t>Year:</a:t>
            </a:r>
            <a:r>
              <a:rPr lang="en-US" altLang="zh-HK" sz="1800" dirty="0">
                <a:latin typeface="+mn-ea"/>
              </a:rPr>
              <a:t> 2026</a:t>
            </a:r>
            <a:endParaRPr lang="zh-HK" altLang="en-US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17717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913FA0-1065-3956-AD6E-334F0001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HK" dirty="0"/>
              <a:t>Motivation and Aims</a:t>
            </a:r>
            <a:endParaRPr lang="zh-HK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7B3493-4A71-A649-8DB8-8C1D9265C0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092566"/>
            <a:ext cx="10263909" cy="3817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HK" dirty="0">
                <a:latin typeface="Noto Sans TC" panose="020B0200000000000000" pitchFamily="34" charset="-120"/>
                <a:ea typeface="Noto Sans TC" panose="020B0200000000000000" pitchFamily="34" charset="-120"/>
              </a:rPr>
              <a:t>Central corridor is a critical CBD route with heavy and variable traffic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HK" dirty="0">
                <a:latin typeface="Noto Sans TC" panose="020B0200000000000000" pitchFamily="34" charset="-120"/>
                <a:ea typeface="Noto Sans TC" panose="020B0200000000000000" pitchFamily="34" charset="-120"/>
              </a:rPr>
              <a:t>Official AADT data are stored in multiple XML files and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HK" dirty="0">
                <a:latin typeface="Noto Sans TC" panose="020B0200000000000000" pitchFamily="34" charset="-120"/>
                <a:ea typeface="Noto Sans TC" panose="020B0200000000000000" pitchFamily="34" charset="-120"/>
              </a:rPr>
              <a:t>Difficult to compare links and years directly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HK" dirty="0">
                <a:latin typeface="Noto Sans TC" panose="020B0200000000000000" pitchFamily="34" charset="-120"/>
                <a:ea typeface="Noto Sans TC" panose="020B0200000000000000" pitchFamily="34" charset="-120"/>
              </a:rPr>
              <a:t>Objectives: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HK" dirty="0">
                <a:latin typeface="Noto Sans TC" panose="020B0200000000000000" pitchFamily="34" charset="-120"/>
                <a:ea typeface="Noto Sans TC" panose="020B0200000000000000" pitchFamily="34" charset="-120"/>
              </a:rPr>
              <a:t>Build one clean combined AADT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HK" dirty="0">
                <a:latin typeface="Noto Sans TC" panose="020B0200000000000000" pitchFamily="34" charset="-120"/>
                <a:ea typeface="Noto Sans TC" panose="020B0200000000000000" pitchFamily="34" charset="-120"/>
              </a:rPr>
              <a:t>Extract a Central‑corridor subset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HK" dirty="0" err="1">
                <a:latin typeface="Noto Sans TC" panose="020B0200000000000000" pitchFamily="34" charset="-120"/>
                <a:ea typeface="Noto Sans TC" panose="020B0200000000000000" pitchFamily="34" charset="-120"/>
              </a:rPr>
              <a:t>Analyse</a:t>
            </a:r>
            <a:r>
              <a:rPr lang="en-US" altLang="zh-HK" dirty="0">
                <a:latin typeface="Noto Sans TC" panose="020B0200000000000000" pitchFamily="34" charset="-120"/>
                <a:ea typeface="Noto Sans TC" panose="020B0200000000000000" pitchFamily="34" charset="-120"/>
              </a:rPr>
              <a:t> trends for each link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HK" dirty="0">
                <a:latin typeface="Noto Sans TC" panose="020B0200000000000000" pitchFamily="34" charset="-120"/>
                <a:ea typeface="Noto Sans TC" panose="020B0200000000000000" pitchFamily="34" charset="-120"/>
              </a:rPr>
              <a:t>Test simple baseline models for AADT forecasts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zh-HK" altLang="zh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675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7">
            <a:extLst>
              <a:ext uri="{FF2B5EF4-FFF2-40B4-BE49-F238E27FC236}">
                <a16:creationId xmlns:a16="http://schemas.microsoft.com/office/drawing/2014/main" id="{45C76AC0-BB6B-419E-A327-AFA297500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9">
            <a:extLst>
              <a:ext uri="{FF2B5EF4-FFF2-40B4-BE49-F238E27FC236}">
                <a16:creationId xmlns:a16="http://schemas.microsoft.com/office/drawing/2014/main" id="{B3E0B6A3-E197-43D6-82D5-7455DAB1A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79647" y="1847088"/>
            <a:ext cx="41587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A3AD7208-710E-E9A3-4BB7-5A7492725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648" y="804520"/>
            <a:ext cx="4158749" cy="1049235"/>
          </a:xfrm>
        </p:spPr>
        <p:txBody>
          <a:bodyPr>
            <a:normAutofit/>
          </a:bodyPr>
          <a:lstStyle/>
          <a:p>
            <a:r>
              <a:rPr lang="en-GB" altLang="zh-HK"/>
              <a:t>Data Sources and Processing</a:t>
            </a:r>
            <a:endParaRPr lang="zh-HK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0E4246-09B8-46D7-A0D2-4D264863A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6B33E71B-C11E-F55C-6AE3-85B7127A3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3" y="982497"/>
            <a:ext cx="6362192" cy="4299622"/>
          </a:xfrm>
          <a:prstGeom prst="rect">
            <a:avLst/>
          </a:prstGeom>
        </p:spPr>
      </p:pic>
      <p:sp>
        <p:nvSpPr>
          <p:cNvPr id="11" name="Rectangle 8">
            <a:extLst>
              <a:ext uri="{FF2B5EF4-FFF2-40B4-BE49-F238E27FC236}">
                <a16:creationId xmlns:a16="http://schemas.microsoft.com/office/drawing/2014/main" id="{2B750D0B-87F7-380C-8177-A6A33CF7EB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79647" y="2015732"/>
            <a:ext cx="4158750" cy="34506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zh-HK" altLang="zh-HK" sz="1200" b="0" i="0" u="none" strike="noStrike" cap="none" normalizeH="0" baseline="0" dirty="0">
              <a:ln>
                <a:noFill/>
              </a:ln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2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Source files: GISDB19.xml, GISDB20.xml, GISDB21.xml, GISDB22.xml, GISDB23.xml, GISDB24.xml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2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Years covered: 2019, 2020, 2021, 2022, 2023, 2024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2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For each XML file: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2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Infer year from filename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2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Read PSTnList table into pandas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2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Clean numeric fields: PreAADT, CurAADT, ChangeAADT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2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Create link key: region + station number (for example, HK_1022)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2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Combined dataset: about 10,077 rows, 14 columns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2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Save final dataset as: hk_aadt_all_years.csv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50C8D8D-B32F-4194-8321-164EC442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BD24D8B-8573-4260-B700-E860AD6D2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410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4BE214B-2C92-47AF-8D90-698211103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86D07CD-E0E5-42ED-BA28-6CB6ADC3B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7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6C5797DF-B9EC-72F2-9334-87642101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5550355" cy="1049235"/>
          </a:xfrm>
        </p:spPr>
        <p:txBody>
          <a:bodyPr>
            <a:normAutofit/>
          </a:bodyPr>
          <a:lstStyle/>
          <a:p>
            <a:r>
              <a:rPr lang="en-GB" altLang="zh-HK"/>
              <a:t>Central Corridor Dataset and Trends</a:t>
            </a:r>
            <a:endParaRPr lang="zh-HK" altLang="en-US" dirty="0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369A020F-4984-4DD0-898A-B60A4882B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8BD74C8-7E5F-C3F0-778D-9D38955A6D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80" y="2015732"/>
            <a:ext cx="5550355" cy="34506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zh-HK" altLang="zh-HK" sz="1300" b="0" i="0" u="none" strike="noStrike" cap="none" normalizeH="0" baseline="0" dirty="0">
              <a:ln>
                <a:noFill/>
              </a:ln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3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Define Central corridor using road‑name keywords: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3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“HARCOURT ROAD”, “CONNAUGHT ROAD”, “QUEENSWAY”, “COTTON TREE DRIVE”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3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plus nearby streets: “GLENEALY”, “UPPER ALBERT ROAD”, “QUEEN’S ROAD CENTRAL”, etc.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3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Filter hk_aadt_all_years.csv by RoadName to create df_central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3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Central subset size: 54 records (2019–2024)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3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Examples of Central links: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3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HK_1411, HK_1608, HK_2212 – Cotton Tree Drive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3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HK_1007, HK_1816, HK_2013 – Queensway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3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HK_1464 – Harcourt Rd (FO ramp to Cotton Tree Drive)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3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HK_1841 – Glenealy &amp; Albany Rd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3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General trend: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3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AADT drops around 2020–2022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300" b="0" i="0" u="none" strike="noStrike" cap="none" normalizeH="0" baseline="0" dirty="0">
                <a:ln>
                  <a:noFill/>
                </a:ln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AADT rebounds in 2023–2024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zh-HK" altLang="zh-HK" sz="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pSp>
        <p:nvGrpSpPr>
          <p:cNvPr id="23" name="Group 17">
            <a:extLst>
              <a:ext uri="{FF2B5EF4-FFF2-40B4-BE49-F238E27FC236}">
                <a16:creationId xmlns:a16="http://schemas.microsoft.com/office/drawing/2014/main" id="{A3761B47-AE33-47C9-9636-19D4B313F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77388" y="482171"/>
            <a:ext cx="4074533" cy="5149101"/>
            <a:chOff x="7477388" y="482171"/>
            <a:chExt cx="4074533" cy="514910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E204B78-8026-4E1E-9C59-5F523ECDD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77388" y="482171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DDEB6F1-F54D-4345-B8DF-72D72C71EC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47" y="812507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380F474-D468-4F2F-8BE9-F343F8D1A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1624" y="977965"/>
            <a:ext cx="3119444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8503E76-0620-BDD8-CA00-A95E5E0E3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373" y="2237691"/>
            <a:ext cx="2799103" cy="162347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757EBBD-8611-41C1-8124-C151D0957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40D0D8B-2D5E-48A4-BBD5-8CB09A86A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118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3A5209-61DC-E716-BD7D-FE91339EC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Baseline and Linear Models (Predicting 2024)</a:t>
            </a:r>
            <a:endParaRPr lang="zh-HK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34B04E-9E54-96E9-93ED-85076285D4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678128"/>
            <a:ext cx="91555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zh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zh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58964BB-5DFC-874C-B01F-E2A3F9D11D77}"/>
              </a:ext>
            </a:extLst>
          </p:cNvPr>
          <p:cNvSpPr txBox="1"/>
          <p:nvPr/>
        </p:nvSpPr>
        <p:spPr>
          <a:xfrm>
            <a:off x="609600" y="3870036"/>
            <a:ext cx="103447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HK" dirty="0">
                <a:latin typeface="Noto Sans TC" panose="020B0200000000000000" pitchFamily="34" charset="-120"/>
                <a:ea typeface="Noto Sans TC" panose="020B0200000000000000" pitchFamily="34" charset="-120"/>
              </a:rPr>
              <a:t>Goal: predict 2024 AADT for Central links from earlier </a:t>
            </a:r>
            <a:r>
              <a:rPr lang="en-GB" altLang="zh-HK" dirty="0" err="1">
                <a:latin typeface="Noto Sans TC" panose="020B0200000000000000" pitchFamily="34" charset="-120"/>
                <a:ea typeface="Noto Sans TC" panose="020B0200000000000000" pitchFamily="34" charset="-120"/>
              </a:rPr>
              <a:t>yearsModels</a:t>
            </a:r>
            <a:r>
              <a:rPr lang="en-GB" altLang="zh-HK" dirty="0">
                <a:latin typeface="Noto Sans TC" panose="020B0200000000000000" pitchFamily="34" charset="-120"/>
                <a:ea typeface="Noto Sans TC" panose="020B0200000000000000" pitchFamily="34" charset="-120"/>
              </a:rPr>
              <a:t> </a:t>
            </a:r>
            <a:r>
              <a:rPr lang="en-GB" altLang="zh-HK" dirty="0" err="1">
                <a:latin typeface="Noto Sans TC" panose="020B0200000000000000" pitchFamily="34" charset="-120"/>
                <a:ea typeface="Noto Sans TC" panose="020B0200000000000000" pitchFamily="34" charset="-120"/>
              </a:rPr>
              <a:t>tested:Baseline</a:t>
            </a:r>
            <a:r>
              <a:rPr lang="en-GB" altLang="zh-HK" dirty="0">
                <a:latin typeface="Noto Sans TC" panose="020B0200000000000000" pitchFamily="34" charset="-120"/>
                <a:ea typeface="Noto Sans TC" panose="020B0200000000000000" pitchFamily="34" charset="-120"/>
              </a:rPr>
              <a:t>: 5‑year mean AADT (2019–2023)Baseline: 3‑year mean AADT (2021–2023)Linear trend: regression of </a:t>
            </a:r>
            <a:r>
              <a:rPr lang="en-GB" altLang="zh-HK" dirty="0" err="1">
                <a:latin typeface="Noto Sans TC" panose="020B0200000000000000" pitchFamily="34" charset="-120"/>
                <a:ea typeface="Noto Sans TC" panose="020B0200000000000000" pitchFamily="34" charset="-120"/>
              </a:rPr>
              <a:t>CurAADT</a:t>
            </a:r>
            <a:r>
              <a:rPr lang="en-GB" altLang="zh-HK" dirty="0">
                <a:latin typeface="Noto Sans TC" panose="020B0200000000000000" pitchFamily="34" charset="-120"/>
                <a:ea typeface="Noto Sans TC" panose="020B0200000000000000" pitchFamily="34" charset="-120"/>
              </a:rPr>
              <a:t> on year (2019–2023)Evaluation metrics for Central 2024:5‑year mean baseline (2019–2023 → 2024):MAE ≈ 1,786, RMSE ≈ 2,943, MAPE ≈ 4.6%3‑year mean baseline (2021–2023 → 2024):MAE ≈ 1,557, RMSE ≈ 3,057, MAPE ≈ 3.5%Linear trend (2019–2023 → 2024):MAE ≈ 3,228, RMSE ≈ 4,926, MAPE ≈ 7.6%Best performing model: 3‑year mean </a:t>
            </a:r>
            <a:r>
              <a:rPr lang="en-GB" altLang="zh-HK" dirty="0" err="1">
                <a:latin typeface="Noto Sans TC" panose="020B0200000000000000" pitchFamily="34" charset="-120"/>
                <a:ea typeface="Noto Sans TC" panose="020B0200000000000000" pitchFamily="34" charset="-120"/>
              </a:rPr>
              <a:t>baselineLinear</a:t>
            </a:r>
            <a:r>
              <a:rPr lang="en-GB" altLang="zh-HK" dirty="0">
                <a:latin typeface="Noto Sans TC" panose="020B0200000000000000" pitchFamily="34" charset="-120"/>
                <a:ea typeface="Noto Sans TC" panose="020B0200000000000000" pitchFamily="34" charset="-120"/>
              </a:rPr>
              <a:t> trend model is less accurate for 2024</a:t>
            </a:r>
            <a:endParaRPr lang="zh-HK" altLang="en-US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3C6773B-4C6E-BEC3-02E0-788AC6EDA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364" y="2090332"/>
            <a:ext cx="6249272" cy="154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89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8E6E69-BCD2-A199-E45A-F502043A1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Examples of Central Links and Forecasts to 2027</a:t>
            </a:r>
            <a:endParaRPr lang="zh-HK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878C5D-1D0E-14D2-B278-6F1B908682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9137"/>
            <a:ext cx="556113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zh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For each Central link, plot: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Actual CurAADT for 2019–2024 (blue line)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Linear prediction for 2024 (red dot)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Example Central links in the plots: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HK_1411 – Cotton Tree Drive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HK_1816 – Queensway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HK_1007 – Queensway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HK_1464 – Harcourt Rd (FO ramp to Cotton Tree Drive)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HK_2013 – Queensway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HK_1841 – Glenealy &amp; Albany Rd </a:t>
            </a:r>
            <a:endParaRPr kumimoji="0" lang="en-US" altLang="zh-HK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HK" altLang="zh-HK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Observations: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For some links, linear prediction is close to actual 2024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For other links, linear prediction over‑ or under‑shoots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Extend linear regression using full 2019–2024 history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Forecast years: 2025, 2026, 2027 for each Central link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Example (Queensway, HK_1007):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Predicted AADT remains in low–mid 50,000 range in 2025–2027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zh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DEAAD09-5FB9-BB78-C428-3B916F730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338" y="2190400"/>
            <a:ext cx="5620287" cy="346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83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ACB3D3-CCE1-ACFC-BF88-53A818885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Key Findings, Limitations, and Next Steps</a:t>
            </a:r>
            <a:endParaRPr lang="zh-HK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780EB0-463B-33EA-923A-9B4EC36BAB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697500"/>
            <a:ext cx="7031092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zh-HK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Key achievements: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Automated pipeline from XML files to a clean CSV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Defined and extracted a Central corridor subset of links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Visualised link‑level AADT trends from 2019 to 2024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Quantitatively compared simple models for 2024 prediction </a:t>
            </a:r>
            <a:endParaRPr kumimoji="0" lang="en-US" altLang="zh-HK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HK" altLang="zh-HK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Main findings: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Central links show a COVID‑era dip followed by recovery in 2023–2024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A very simple 3‑year mean baseline outperforms the linear trend model for 2024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zh-HK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Limitations: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Only AADT history is used; no land‑use, population, or transit variables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Short time series; results not suitable for detailed engineering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Focus only on Central corridor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zh-HK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Future work: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Add explanatory variables and richer time‑series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Extend to other corridors or the whole Hong Kong network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HK" altLang="zh-H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Package results into an interactive dashboard or widget‑based tool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K" altLang="zh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93174"/>
      </p:ext>
    </p:extLst>
  </p:cSld>
  <p:clrMapOvr>
    <a:masterClrMapping/>
  </p:clrMapOvr>
</p:sld>
</file>

<file path=ppt/theme/theme1.xml><?xml version="1.0" encoding="utf-8"?>
<a:theme xmlns:a="http://schemas.openxmlformats.org/drawingml/2006/main" name="圖庫">
  <a:themeElements>
    <a:clrScheme name="圖庫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圖庫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圖庫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TM10001114[[fn=圖庫]]</Template>
  <TotalTime>34</TotalTime>
  <Words>807</Words>
  <Application>Microsoft Office PowerPoint</Application>
  <PresentationFormat>寬螢幕</PresentationFormat>
  <Paragraphs>80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Noto Sans TC</vt:lpstr>
      <vt:lpstr>Arial</vt:lpstr>
      <vt:lpstr>Gill Sans MT</vt:lpstr>
      <vt:lpstr>圖庫</vt:lpstr>
      <vt:lpstr>Predicting Traffic Congestion in Hong Kong with Open Data: A Practical Undergraduate Capstone                                                                                                                                                                                                                                                    </vt:lpstr>
      <vt:lpstr>Motivation and Aims</vt:lpstr>
      <vt:lpstr>Data Sources and Processing</vt:lpstr>
      <vt:lpstr>Central Corridor Dataset and Trends</vt:lpstr>
      <vt:lpstr>Baseline and Linear Models (Predicting 2024)</vt:lpstr>
      <vt:lpstr>Examples of Central Links and Forecasts to 2027</vt:lpstr>
      <vt:lpstr>Key Findings, Limitations,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22D021@hksyu.edu.hk</dc:creator>
  <cp:lastModifiedBy>22D021@hksyu.edu.hk</cp:lastModifiedBy>
  <cp:revision>1</cp:revision>
  <dcterms:created xsi:type="dcterms:W3CDTF">2026-04-22T19:10:39Z</dcterms:created>
  <dcterms:modified xsi:type="dcterms:W3CDTF">2026-04-22T19:45:14Z</dcterms:modified>
</cp:coreProperties>
</file>